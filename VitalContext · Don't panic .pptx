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qTdROk6vpjt9F5rWa75TjUvuF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Team Don't Panic. VitalContext is pre-visit intake that hands the doctor a brief where every fact cites its source.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Visits are short, and time goes to re-reading the record and re-asking the story. Patients forget symptoms, timelines and medicines. Prescriptions from other clinics stay invisible. And bots that diagnose create liability, so clinicians do not trust them.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the visit the patient goes through a guided intake chat: type, speak or tap, in Polish or English. The doctor gets a cited brief where every fact opens its source record, with one medication table combining clinic prescriptions and patient-reported medicines. Red-flag rules stop the chat and show a 112 screen. There are no diagnoses, risk scores or suggested actions, anywhere.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Next.js front ends, the patient app and the doctor dashboard, talk to FastAPI services: Safety, Context, Intake, Brief, Profile and Audit. Those services call an LLM gateway, Claude or an offline deterministic engine, and a FHIR R4 store for clinical records plus PostgreSQL for users and the audit log. The model sees only a pseudonymised context pack. Code validates every citation and discards any fact without a real source. All patients are synthetic, and AI use is disclosed.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9944e4d807f5d25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h49944e4d807f5d25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GDPR: health data is processed under Article 9(2)(h) with the clinic as controller, access is role-based and logged, and a DPIA is required before production. The demo uses an external API on synthetic data; in production no real health data goes to a non-EU provider. Under the EU AI Act, patients are always told they are interacting with AI. Under EU MDR, the product organises and surfaces information only, and a formal regulatory assessment is needed before production.</a:t>
            </a:r>
            <a:endParaRPr/>
          </a:p>
        </p:txBody>
      </p:sp>
      <p:sp>
        <p:nvSpPr>
          <p:cNvPr id="113" name="Google Shape;113;h49944e4d807f5d25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built against the five judging criteria. Idea and innovation: guided intake plus clinic history plus patient profile, with every AI statement grounded in a source. Category: appointment preparation and doctor–patient communication. Applicability: clinic-operated, standard FHIR data, GDPR and regulatory path designed in from the start. Design: two purpose-built interfaces. Completeness: the end-to-end flow runs today on synthetic data with one command. Next: server-side speech-to-text, mObywatel login, e-prescription import, and a DPIA and MDR assessment.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1: Anna describes a dry cough. The brief links it to her lisinopril prescription, and one click opens the original record. Case 2: an ADHD dose change. Daily check-ins and wearable data show what happened since the last visit. Where chat answers differ from the data, the doctor gets a prompt to ask, not a verdict.</a:t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0B1B33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  <a:defRPr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6FB"/>
              </a:buClr>
              <a:buSzPts val="1600"/>
              <a:buNone/>
              <a:defRPr sz="16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79QAMt_KCn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159258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HACKYEAH 2026 · SPORT &amp; HEALTHCARE (OPEN TASK)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095500"/>
            <a:ext cx="10883392" cy="1145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8400"/>
              <a:buFont typeface="Inter"/>
              <a:buNone/>
            </a:pPr>
            <a:r>
              <a:rPr b="1" i="0" lang="en-US" sz="84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VitalContext</a:t>
            </a:r>
            <a:endParaRPr sz="8400"/>
          </a:p>
        </p:txBody>
      </p:sp>
      <p:sp>
        <p:nvSpPr>
          <p:cNvPr id="23" name="Google Shape;23;p1"/>
          <p:cNvSpPr/>
          <p:nvPr/>
        </p:nvSpPr>
        <p:spPr>
          <a:xfrm>
            <a:off x="812800" y="3469640"/>
            <a:ext cx="915670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Pre-visit intake that hands the doctor a brief where every fact cites its source.</a:t>
            </a:r>
            <a:endParaRPr b="0"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ine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4516120"/>
            <a:ext cx="101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812800" y="4795520"/>
            <a:ext cx="113792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Team </a:t>
            </a:r>
            <a:r>
              <a:rPr b="1" lang="en-US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Don’t panic:</a:t>
            </a:r>
            <a:r>
              <a:rPr b="0" i="0" lang="en-US" sz="14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 Dilnaz Ibrayeva, Polina Kuzmicheva, Fabiola Vivolo, Dmitriy Tereshchenko, Grigorii Shmelev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12800" y="6238240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800850" y="6238240"/>
            <a:ext cx="45783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20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github.com/DT-sudo/HACK_YEAH</a:t>
            </a:r>
            <a:endParaRPr b="0" i="0" sz="2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lang="en-US"/>
              <a:t>Constraints related to a visit with a doctor</a:t>
            </a:r>
            <a:endParaRPr sz="3000"/>
          </a:p>
        </p:txBody>
      </p:sp>
      <p:sp>
        <p:nvSpPr>
          <p:cNvPr id="34" name="Google Shape;34;p2"/>
          <p:cNvSpPr/>
          <p:nvPr/>
        </p:nvSpPr>
        <p:spPr>
          <a:xfrm>
            <a:off x="815975" y="159067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ck icon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880" y="18465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732280" y="184658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lang="en-US" sz="18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Time loss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32280" y="219710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Time goes to re-reading the record by the doctor and re-asking the story.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00775" y="159067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ding list icon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6680" y="18465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117080" y="184658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Lost details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117080" y="219710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Patients forget symptoms, timelines and medicines.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15975" y="319595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 icon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880" y="34518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732280" y="345186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Hidden medicines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32280" y="3802380"/>
            <a:ext cx="4123131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Prescriptions from other clinics stay invisible.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00775" y="3195955"/>
            <a:ext cx="5175250" cy="1395730"/>
          </a:xfrm>
          <a:prstGeom prst="roundRect">
            <a:avLst>
              <a:gd fmla="val 887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ing icon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6680" y="34518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7117080" y="3451860"/>
            <a:ext cx="4123131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Distrusted AI</a:t>
            </a:r>
            <a:endParaRPr b="0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117080" y="3802380"/>
            <a:ext cx="4123131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Bots that diagnose create liability.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652375" y="392089"/>
            <a:ext cx="10883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The patient chats before the visit; the doctor gets a sourced brief</a:t>
            </a:r>
            <a:endParaRPr sz="3000"/>
          </a:p>
        </p:txBody>
      </p:sp>
      <p:sp>
        <p:nvSpPr>
          <p:cNvPr id="57" name="Google Shape;57;p3"/>
          <p:cNvSpPr/>
          <p:nvPr/>
        </p:nvSpPr>
        <p:spPr>
          <a:xfrm>
            <a:off x="2546350" y="1885950"/>
            <a:ext cx="3340100" cy="2781300"/>
          </a:xfrm>
          <a:prstGeom prst="roundRect">
            <a:avLst>
              <a:gd fmla="val 3425" name="adj"/>
            </a:avLst>
          </a:prstGeom>
          <a:solidFill>
            <a:srgbClr val="132A4C"/>
          </a:solidFill>
          <a:ln cap="flat" cmpd="sng" w="12700">
            <a:solidFill>
              <a:srgbClr val="3D5F9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79100" lIns="135200" spcFirstLastPara="1" rIns="135200" wrap="square" tIns="17910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[SCREENSHOT: doctor dashboard, pre-visit brief]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7503986" y="1879600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7669086" y="1879600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Guided intake chat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669086" y="2161541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Type, speak or tap, in Polish or English.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7503986" y="2642632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7669086" y="2642632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Cited doctor brief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669086" y="2924572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Every fact opens its source record.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7503986" y="3405744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7669086" y="3405744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One medication table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69086" y="3687683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 prescriptions plus patient-reported medicines.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7" name="Google Shape;67;p3"/>
          <p:cNvCxnSpPr/>
          <p:nvPr/>
        </p:nvCxnSpPr>
        <p:spPr>
          <a:xfrm>
            <a:off x="7503986" y="4168775"/>
            <a:ext cx="0" cy="50490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7669086" y="4168775"/>
            <a:ext cx="504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Red-flag safety net</a:t>
            </a:r>
            <a:endParaRPr b="0" i="0" sz="1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669086" y="4450716"/>
            <a:ext cx="5049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Rules stop the chat and show a 112 screen.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12800" y="5561353"/>
            <a:ext cx="10566300" cy="476400"/>
          </a:xfrm>
          <a:prstGeom prst="roundRect">
            <a:avLst>
              <a:gd fmla="val 16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t" bIns="66575" lIns="180875" spcFirstLastPara="1" rIns="0" wrap="square" tIns="91975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B1B33"/>
                </a:solidFill>
                <a:latin typeface="Inter"/>
                <a:ea typeface="Inter"/>
                <a:cs typeface="Inter"/>
                <a:sym typeface="Inter"/>
              </a:rPr>
              <a:t>No diagnoses, risk scores or suggested actions, anywhere.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12800" y="6238241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10930" y="4984477"/>
            <a:ext cx="10566300" cy="476400"/>
          </a:xfrm>
          <a:prstGeom prst="roundRect">
            <a:avLst>
              <a:gd fmla="val 16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t" bIns="66575" lIns="180875" spcFirstLastPara="1" rIns="0" wrap="square" tIns="919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B1B33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0B1B33"/>
                </a:solidFill>
                <a:latin typeface="Inter"/>
                <a:ea typeface="Inter"/>
                <a:cs typeface="Inter"/>
                <a:sym typeface="Inter"/>
              </a:rPr>
              <a:t>For people 30-55 y.o. going to a doctor regularly. 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0" y="939225"/>
            <a:ext cx="2052275" cy="394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537" y="1493363"/>
            <a:ext cx="4939928" cy="32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812800" y="812800"/>
            <a:ext cx="108833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Code owns safety and data; the LLM does three narrow tasks</a:t>
            </a:r>
            <a:endParaRPr sz="3000"/>
          </a:p>
        </p:txBody>
      </p:sp>
      <p:sp>
        <p:nvSpPr>
          <p:cNvPr id="81" name="Google Shape;81;p4"/>
          <p:cNvSpPr/>
          <p:nvPr/>
        </p:nvSpPr>
        <p:spPr>
          <a:xfrm>
            <a:off x="815975" y="1806575"/>
            <a:ext cx="2406600" cy="1736100"/>
          </a:xfrm>
          <a:prstGeom prst="roundRect">
            <a:avLst>
              <a:gd fmla="val 566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995680" y="2313941"/>
            <a:ext cx="2108657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Patient app + Doctor dashboard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95680" y="2821941"/>
            <a:ext cx="2108657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Next.js, PL/EN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FastAPI services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400" y="2598420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3892550" y="1809750"/>
            <a:ext cx="2527300" cy="1729740"/>
          </a:xfrm>
          <a:prstGeom prst="roundRect">
            <a:avLst>
              <a:gd fmla="val 5507" name="adj"/>
            </a:avLst>
          </a:prstGeom>
          <a:solidFill>
            <a:srgbClr val="132A4C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074160" y="2321561"/>
            <a:ext cx="2229003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FastAPI services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074160" y="2600961"/>
            <a:ext cx="2229003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Safety · Context · Intake · Brief  Profile · Audit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LLM gateway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00" y="2131061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7089775" y="1806575"/>
            <a:ext cx="4286250" cy="801370"/>
          </a:xfrm>
          <a:prstGeom prst="roundRect">
            <a:avLst>
              <a:gd fmla="val 1228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269480" y="1960880"/>
            <a:ext cx="40446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LLM gateway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269480" y="2240280"/>
            <a:ext cx="40446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Claude or offline deterministic engine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rrow to data stores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7800" y="3065780"/>
            <a:ext cx="45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7089775" y="2741295"/>
            <a:ext cx="4286250" cy="801370"/>
          </a:xfrm>
          <a:prstGeom prst="roundRect">
            <a:avLst>
              <a:gd fmla="val 1228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269480" y="2895600"/>
            <a:ext cx="40446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FHIR R4 store + PostgreSQL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269480" y="3175000"/>
            <a:ext cx="404464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Clinical records · users and audit log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30250" y="3819360"/>
            <a:ext cx="10883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 Code validates every citation and discards any fact without a real source.</a:t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15975" y="4351655"/>
            <a:ext cx="878523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Next.js 16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764348" y="4351655"/>
            <a:ext cx="96210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796302" y="4351655"/>
            <a:ext cx="100020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Tailwind v4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866356" y="4351655"/>
            <a:ext cx="727154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63361" y="4351655"/>
            <a:ext cx="1008698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Python 3.13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741908" y="4351655"/>
            <a:ext cx="763270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FHIR R4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575028" y="4351655"/>
            <a:ext cx="1036003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680881" y="4351655"/>
            <a:ext cx="576977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Redis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327708" y="4351655"/>
            <a:ext cx="696516" cy="27813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Docker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12800" y="4785361"/>
            <a:ext cx="10883392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All patients are synthetic. AI use disclosed.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830250" y="5377000"/>
            <a:ext cx="3393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2F6F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812799" y="5164450"/>
            <a:ext cx="856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Includes </a:t>
            </a:r>
            <a:r>
              <a:rPr lang="en-US">
                <a:solidFill>
                  <a:schemeClr val="lt1"/>
                </a:solidFill>
              </a:rPr>
              <a:t>the red-flag rules that stop the chat and show the 112 screen.</a:t>
            </a:r>
            <a:br>
              <a:rPr lang="en-US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49944e4d807f5d25_1_16"/>
          <p:cNvSpPr txBox="1"/>
          <p:nvPr>
            <p:ph type="title"/>
          </p:nvPr>
        </p:nvSpPr>
        <p:spPr>
          <a:xfrm>
            <a:off x="812800" y="812800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Privacy and regulation were planned from day one</a:t>
            </a:r>
            <a:endParaRPr sz="3000"/>
          </a:p>
        </p:txBody>
      </p:sp>
      <p:sp>
        <p:nvSpPr>
          <p:cNvPr id="116" name="Google Shape;116;h49944e4d807f5d25_1_16"/>
          <p:cNvSpPr/>
          <p:nvPr/>
        </p:nvSpPr>
        <p:spPr>
          <a:xfrm>
            <a:off x="815975" y="1489075"/>
            <a:ext cx="5187900" cy="1489800"/>
          </a:xfrm>
          <a:prstGeom prst="roundRect">
            <a:avLst>
              <a:gd fmla="val 831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h49944e4d807f5d25_1_16"/>
          <p:cNvSpPr/>
          <p:nvPr/>
        </p:nvSpPr>
        <p:spPr>
          <a:xfrm>
            <a:off x="1046480" y="1719582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GDPR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h49944e4d807f5d25_1_16"/>
          <p:cNvSpPr/>
          <p:nvPr/>
        </p:nvSpPr>
        <p:spPr>
          <a:xfrm>
            <a:off x="1046480" y="2054861"/>
            <a:ext cx="48687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Health data is processed under Art. 9(2)(h) with the clinic as controller. Access is role-based and logged. A DPIA is required before production.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h49944e4d807f5d25_1_16"/>
          <p:cNvSpPr/>
          <p:nvPr/>
        </p:nvSpPr>
        <p:spPr>
          <a:xfrm>
            <a:off x="6188075" y="1489075"/>
            <a:ext cx="5187900" cy="1489800"/>
          </a:xfrm>
          <a:prstGeom prst="roundRect">
            <a:avLst>
              <a:gd fmla="val 8312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49944e4d807f5d25_1_16"/>
          <p:cNvSpPr/>
          <p:nvPr/>
        </p:nvSpPr>
        <p:spPr>
          <a:xfrm>
            <a:off x="6418580" y="1719582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LLM hosting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h49944e4d807f5d25_1_16"/>
          <p:cNvSpPr/>
          <p:nvPr/>
        </p:nvSpPr>
        <p:spPr>
          <a:xfrm>
            <a:off x="6418580" y="2054861"/>
            <a:ext cx="4868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demo uses an external API on synthetic data. In production, no real health data goes to a non-EU provider.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h49944e4d807f5d25_1_16"/>
          <p:cNvSpPr/>
          <p:nvPr/>
        </p:nvSpPr>
        <p:spPr>
          <a:xfrm>
            <a:off x="815975" y="3162936"/>
            <a:ext cx="5187900" cy="1258500"/>
          </a:xfrm>
          <a:prstGeom prst="roundRect">
            <a:avLst>
              <a:gd fmla="val 983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49944e4d807f5d25_1_16"/>
          <p:cNvSpPr/>
          <p:nvPr/>
        </p:nvSpPr>
        <p:spPr>
          <a:xfrm>
            <a:off x="1046480" y="3393439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EU AI Act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h49944e4d807f5d25_1_16"/>
          <p:cNvSpPr/>
          <p:nvPr/>
        </p:nvSpPr>
        <p:spPr>
          <a:xfrm>
            <a:off x="1046480" y="3728721"/>
            <a:ext cx="49542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Patients are always told they are interacting with AI (Art. 50).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h49944e4d807f5d25_1_16"/>
          <p:cNvSpPr/>
          <p:nvPr/>
        </p:nvSpPr>
        <p:spPr>
          <a:xfrm>
            <a:off x="6188075" y="3162936"/>
            <a:ext cx="5187900" cy="1258500"/>
          </a:xfrm>
          <a:prstGeom prst="roundRect">
            <a:avLst>
              <a:gd fmla="val 9839" name="adj"/>
            </a:avLst>
          </a:prstGeom>
          <a:solidFill>
            <a:srgbClr val="132A4C"/>
          </a:solidFill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h49944e4d807f5d25_1_16"/>
          <p:cNvSpPr/>
          <p:nvPr/>
        </p:nvSpPr>
        <p:spPr>
          <a:xfrm>
            <a:off x="6418580" y="3393439"/>
            <a:ext cx="4868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EU MDR</a:t>
            </a:r>
            <a:endParaRPr b="0" i="0" sz="17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h49944e4d807f5d25_1_16"/>
          <p:cNvSpPr/>
          <p:nvPr/>
        </p:nvSpPr>
        <p:spPr>
          <a:xfrm>
            <a:off x="6418580" y="3728721"/>
            <a:ext cx="4868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product organises and surfaces information only. A formal regulatory assessment is needed before production.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h49944e4d807f5d25_1_16"/>
          <p:cNvSpPr/>
          <p:nvPr/>
        </p:nvSpPr>
        <p:spPr>
          <a:xfrm>
            <a:off x="812800" y="6238242"/>
            <a:ext cx="5232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 · 8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3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Built against the five criteria</a:t>
            </a:r>
            <a:endParaRPr sz="3000"/>
          </a:p>
        </p:txBody>
      </p:sp>
      <p:cxnSp>
        <p:nvCxnSpPr>
          <p:cNvPr id="135" name="Google Shape;135;p6"/>
          <p:cNvCxnSpPr/>
          <p:nvPr/>
        </p:nvCxnSpPr>
        <p:spPr>
          <a:xfrm>
            <a:off x="812800" y="1794187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6"/>
          <p:cNvSpPr/>
          <p:nvPr/>
        </p:nvSpPr>
        <p:spPr>
          <a:xfrm>
            <a:off x="812800" y="194722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30%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841500" y="1957383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Idea &amp; Innovation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841500" y="2249483"/>
            <a:ext cx="2286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584700" y="1897694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Guided intake + clinic history + patient profile, with every AI statement grounded in a source.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812800" y="2464748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>
            <a:off x="812800" y="261778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841500" y="2627944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Relation to Category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841500" y="2920044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584700" y="2568251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Appointment preparation and doctor–patient communication; lifestyle and activity are part of the clinical picture.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812800" y="3135308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6"/>
          <p:cNvSpPr/>
          <p:nvPr/>
        </p:nvSpPr>
        <p:spPr>
          <a:xfrm>
            <a:off x="812800" y="3288344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841500" y="3298501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Practical Applicability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841500" y="3590601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584700" y="3238812"/>
            <a:ext cx="6998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Clinic-operated, </a:t>
            </a:r>
            <a:r>
              <a:rPr lang="en-US" sz="1300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the common healthcare data format, so it can plug into existing clinic systems instead of needing a custom integration.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0" name="Google Shape;150;p6"/>
          <p:cNvCxnSpPr/>
          <p:nvPr/>
        </p:nvCxnSpPr>
        <p:spPr>
          <a:xfrm>
            <a:off x="812800" y="3805869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6"/>
          <p:cNvSpPr/>
          <p:nvPr/>
        </p:nvSpPr>
        <p:spPr>
          <a:xfrm>
            <a:off x="812800" y="3958901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20%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841500" y="3969062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841500" y="4261162"/>
            <a:ext cx="1524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584700" y="4008587"/>
            <a:ext cx="69984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Two purpose-built interfaces, a calm mobile patient app and a dense doctor dashboard.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5" name="Google Shape;155;p6"/>
          <p:cNvCxnSpPr/>
          <p:nvPr/>
        </p:nvCxnSpPr>
        <p:spPr>
          <a:xfrm>
            <a:off x="812800" y="4476426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6"/>
          <p:cNvCxnSpPr/>
          <p:nvPr/>
        </p:nvCxnSpPr>
        <p:spPr>
          <a:xfrm>
            <a:off x="812800" y="5046656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274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6"/>
          <p:cNvSpPr/>
          <p:nvPr/>
        </p:nvSpPr>
        <p:spPr>
          <a:xfrm>
            <a:off x="812800" y="4579933"/>
            <a:ext cx="876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10%</a:t>
            </a:r>
            <a:endParaRPr b="0" i="0" sz="2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841500" y="4590094"/>
            <a:ext cx="261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Completeness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841500" y="4882194"/>
            <a:ext cx="762000" cy="507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584700" y="4645973"/>
            <a:ext cx="6998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End-to-end flow runs today on synthetic data with one command; test suite included.</a:t>
            </a:r>
            <a:endParaRPr b="0"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ct val="100000"/>
              <a:buFont typeface="Inter"/>
              <a:buNone/>
            </a:pP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Future </a:t>
            </a:r>
            <a:r>
              <a:rPr b="1" lang="en-US"/>
              <a:t>plans</a:t>
            </a:r>
            <a:r>
              <a:rPr b="1" i="0" lang="en-US" sz="30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3000"/>
          </a:p>
        </p:txBody>
      </p:sp>
      <p:sp>
        <p:nvSpPr>
          <p:cNvPr id="168" name="Google Shape;168;p5"/>
          <p:cNvSpPr/>
          <p:nvPr/>
        </p:nvSpPr>
        <p:spPr>
          <a:xfrm>
            <a:off x="815975" y="1632450"/>
            <a:ext cx="8597400" cy="2384100"/>
          </a:xfrm>
          <a:prstGeom prst="roundRect">
            <a:avLst>
              <a:gd fmla="val 12419" name="adj"/>
            </a:avLst>
          </a:prstGeom>
          <a:solidFill>
            <a:srgbClr val="132A4C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 expand the target audience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e-prescription import 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Prediction based on DNA analysis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Accessibility features (i.e. for colorblind or blind people)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Multi-language support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12800" y="6238239"/>
            <a:ext cx="523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8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8CF"/>
                </a:solidFill>
                <a:latin typeface="Inter"/>
                <a:ea typeface="Inter"/>
                <a:cs typeface="Inter"/>
                <a:sym typeface="Inter"/>
              </a:rPr>
              <a:t>VitalContext · HackYeah 2026</a:t>
            </a:r>
            <a:endParaRPr b="0"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815975" y="4518025"/>
            <a:ext cx="1990500" cy="1148400"/>
          </a:xfrm>
          <a:prstGeom prst="roundRect">
            <a:avLst>
              <a:gd fmla="val 12419" name="adj"/>
            </a:avLst>
          </a:prstGeom>
          <a:solidFill>
            <a:srgbClr val="132A4C"/>
          </a:solidFill>
          <a:ln cap="flat" cmpd="sng" w="9525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054723" y="4700200"/>
            <a:ext cx="41232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Live </a:t>
            </a:r>
            <a:r>
              <a:rPr b="1" lang="en-US" sz="1600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over</a:t>
            </a:r>
            <a:r>
              <a:rPr b="1" i="0" lang="en-US" sz="1600" u="none" cap="none" strike="noStrike">
                <a:solidFill>
                  <a:srgbClr val="F2F6FB"/>
                </a:solidFill>
                <a:latin typeface="Inter"/>
                <a:ea typeface="Inter"/>
                <a:cs typeface="Inter"/>
                <a:sym typeface="Inter"/>
              </a:rPr>
              <a:t>view: </a:t>
            </a:r>
            <a:endParaRPr b="1" sz="1600">
              <a:solidFill>
                <a:srgbClr val="2DD4B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6FB"/>
              </a:buClr>
              <a:buSzPts val="1600"/>
              <a:buFont typeface="Inter"/>
              <a:buNone/>
            </a:pPr>
            <a:r>
              <a:rPr b="1" lang="en-U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Link</a:t>
            </a:r>
            <a:endParaRPr b="1" sz="1600">
              <a:solidFill>
                <a:srgbClr val="2DD4B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talContext · HackYeah 2026 pitch">
  <a:themeElements>
    <a:clrScheme name="VitalContext · HackYeah 2026 pitch">
      <a:dk1>
        <a:srgbClr val="0B1B33"/>
      </a:dk1>
      <a:lt1>
        <a:srgbClr val="F2F6FB"/>
      </a:lt1>
      <a:dk2>
        <a:srgbClr val="223147"/>
      </a:dk2>
      <a:lt2>
        <a:srgbClr val="B8BFC9"/>
      </a:lt2>
      <a:accent1>
        <a:srgbClr val="2DD4BF"/>
      </a:accent1>
      <a:accent2>
        <a:srgbClr val="132A4C"/>
      </a:accent2>
      <a:accent3>
        <a:srgbClr val="A9B8CF"/>
      </a:accent3>
      <a:accent4>
        <a:srgbClr val="9AA0A6"/>
      </a:accent4>
      <a:accent5>
        <a:srgbClr val="969EAB"/>
      </a:accent5>
      <a:accent6>
        <a:srgbClr val="737E8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talContext · HackYeah 2026 pitch">
  <a:themeElements>
    <a:clrScheme name="VitalContext · HackYeah 2026 pitch">
      <a:dk1>
        <a:srgbClr val="0B1B33"/>
      </a:dk1>
      <a:lt1>
        <a:srgbClr val="F2F6FB"/>
      </a:lt1>
      <a:dk2>
        <a:srgbClr val="223147"/>
      </a:dk2>
      <a:lt2>
        <a:srgbClr val="B8BFC9"/>
      </a:lt2>
      <a:accent1>
        <a:srgbClr val="2DD4BF"/>
      </a:accent1>
      <a:accent2>
        <a:srgbClr val="132A4C"/>
      </a:accent2>
      <a:accent3>
        <a:srgbClr val="A9B8CF"/>
      </a:accent3>
      <a:accent4>
        <a:srgbClr val="9AA0A6"/>
      </a:accent4>
      <a:accent5>
        <a:srgbClr val="969EAB"/>
      </a:accent5>
      <a:accent6>
        <a:srgbClr val="737E8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2026-10-04T07:02:23Z</dcterms:created>
</cp:coreProperties>
</file>