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Inter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9ygzue+vcvM996KWg+wC2XZWi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regular.fntdata"/><Relationship Id="rId10" Type="http://schemas.openxmlformats.org/officeDocument/2006/relationships/slide" Target="slides/slide6.xml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Int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are Team Don't Panic. VitalContext is pre-visit intake that hands the doctor a brief where every fact cites its source.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Visits are short, and time goes to re-reading the record and re-asking the story. Patients forget symptoms, timelines and medicines. Prescriptions from other clinics stay invisible. And bots that diagnose create liability, so clinicians do not trust them.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Before the visit the patient goes through a guided intake chat: type, speak or tap, in Polish or English. The doctor gets a cited brief where every fact opens its source record, with one medication table combining clinic prescriptions and patient-reported medicines. Red-flag rules stop the chat and show a 112 screen. There are no diagnoses, risk scores or suggested actions, anywhere.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Next.js front ends, the patient app and the doctor dashboard, talk to FastAPI services: Safety, Context, Intake, Brief, Profile and Audit. Those services call an LLM gateway, Claude or an offline deterministic engine, and a FHIR R4 store for clinical records plus PostgreSQL for users and the audit log. The model sees only a pseudonymised context pack. Code validates every citation and discards any fact without a real source. All patients are synthetic, and AI use is disclosed.</a:t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built against the five judging criteria. Idea and innovation: guided intake plus clinic history plus patient profile, with every AI statement grounded in a source. Category: appointment preparation and doctor–patient communication. Applicability: clinic-operated, standard FHIR data, GDPR and regulatory path designed in from the start. Design: two purpose-built interfaces. Completeness: the end-to-end flow runs today on synthetic data with one command. Next: server-side speech-to-text, mObywatel login, e-prescription import, and a DPIA and MDR assessment.</a:t>
            </a:r>
            <a:endParaRPr/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1: Anna describes a dry cough. The brief links it to her lisinopril prescription, and one click opens the original record. Case 2: an ADHD dose change. Daily check-ins and wearable data show what happened since the last visit. Where chat answers differ from the data, the doctor gets a prompt to ask, not a verdict.</a:t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0B1B33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  <a:defRPr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2F6FB"/>
              </a:buClr>
              <a:buSzPts val="1600"/>
              <a:buNone/>
              <a:defRPr sz="16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  <a:defRPr b="0" i="0" sz="30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1592580"/>
            <a:ext cx="1088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HACKYEAH 2026 · SPORT &amp; HEALTHCARE (OPEN TASK)</a:t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" name="Google Shape;22;p1"/>
          <p:cNvSpPr txBox="1"/>
          <p:nvPr>
            <p:ph type="title"/>
          </p:nvPr>
        </p:nvSpPr>
        <p:spPr>
          <a:xfrm>
            <a:off x="812800" y="2095500"/>
            <a:ext cx="10883392" cy="114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8400"/>
              <a:buFont typeface="Inter"/>
              <a:buNone/>
            </a:pPr>
            <a:r>
              <a:rPr b="1" i="0" lang="en-US" sz="84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VitalContext</a:t>
            </a:r>
            <a:endParaRPr sz="8400"/>
          </a:p>
        </p:txBody>
      </p:sp>
      <p:sp>
        <p:nvSpPr>
          <p:cNvPr id="23" name="Google Shape;23;p1"/>
          <p:cNvSpPr/>
          <p:nvPr/>
        </p:nvSpPr>
        <p:spPr>
          <a:xfrm>
            <a:off x="812800" y="3469640"/>
            <a:ext cx="9156700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Pre-visit intake that hands the doctor a brief where every fact cites its source.</a:t>
            </a:r>
            <a:endParaRPr b="0" i="0" sz="2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line" id="24" name="Google Shape;2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4516120"/>
            <a:ext cx="101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812800" y="4795520"/>
            <a:ext cx="113792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Team </a:t>
            </a:r>
            <a:r>
              <a:rPr b="1" lang="en-US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Zabky </a:t>
            </a:r>
            <a:r>
              <a:rPr b="0" i="0" lang="en-US" sz="14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· Dilnaz Ibrayeva, Polina Kuzmicheva, Fabiola Vivolo, Dmitriy Tereshchenko, Grigorii Shmelev</a:t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12800" y="6238240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· 1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800850" y="6238240"/>
            <a:ext cx="457835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20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github.com/DT-sudo/HACK_YEAH</a:t>
            </a:r>
            <a:endParaRPr b="0" i="0" sz="2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ct val="100000"/>
              <a:buFont typeface="Inter"/>
              <a:buNone/>
            </a:pPr>
            <a:r>
              <a:rPr b="1" lang="en-US"/>
              <a:t>Constraints that people have visiting a doctor</a:t>
            </a:r>
            <a:endParaRPr sz="3000"/>
          </a:p>
        </p:txBody>
      </p:sp>
      <p:sp>
        <p:nvSpPr>
          <p:cNvPr id="34" name="Google Shape;34;p2"/>
          <p:cNvSpPr/>
          <p:nvPr/>
        </p:nvSpPr>
        <p:spPr>
          <a:xfrm>
            <a:off x="815975" y="159067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lock icon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880" y="18465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1732280" y="184658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lang="en-US" sz="18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b="1" i="0" lang="en-US" sz="18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isits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732280" y="2197100"/>
            <a:ext cx="4123131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Time goes to re-reading the record and re-asking the story.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200775" y="159067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ding list icon" id="39" name="Google Shape;3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6680" y="18465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7117080" y="184658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Lost details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117080" y="2197100"/>
            <a:ext cx="4123131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Patients forget symptoms, timelines and medicines.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15975" y="319595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ill icon" id="43" name="Google Shape;4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880" y="34518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1732280" y="345186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Hidden medicines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732280" y="3802380"/>
            <a:ext cx="4123131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Prescriptions from other clinics stay invisible.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200775" y="319595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rning icon" id="47" name="Google Shape;4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6680" y="34518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7117080" y="345186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Distrusted AI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117080" y="3802380"/>
            <a:ext cx="4123131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Bots that diagnose create liability.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12800" y="6238241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· 2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>
            <p:ph type="title"/>
          </p:nvPr>
        </p:nvSpPr>
        <p:spPr>
          <a:xfrm>
            <a:off x="812800" y="392064"/>
            <a:ext cx="108834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ct val="100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The patient chats before the visit; the doctor gets a sourced brief</a:t>
            </a:r>
            <a:endParaRPr sz="3000"/>
          </a:p>
        </p:txBody>
      </p:sp>
      <p:sp>
        <p:nvSpPr>
          <p:cNvPr id="57" name="Google Shape;57;p3"/>
          <p:cNvSpPr/>
          <p:nvPr/>
        </p:nvSpPr>
        <p:spPr>
          <a:xfrm>
            <a:off x="2546350" y="1885950"/>
            <a:ext cx="3340100" cy="2781300"/>
          </a:xfrm>
          <a:prstGeom prst="roundRect">
            <a:avLst>
              <a:gd fmla="val 3425" name="adj"/>
            </a:avLst>
          </a:prstGeom>
          <a:solidFill>
            <a:srgbClr val="132A4C"/>
          </a:solidFill>
          <a:ln cap="flat" cmpd="sng" w="12700">
            <a:solidFill>
              <a:srgbClr val="3D5F9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79100" lIns="135200" spcFirstLastPara="1" rIns="135200" wrap="square" tIns="17910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[SCREENSHOT: doctor dashboard, pre-visit brief]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8" name="Google Shape;58;p3"/>
          <p:cNvCxnSpPr/>
          <p:nvPr/>
        </p:nvCxnSpPr>
        <p:spPr>
          <a:xfrm>
            <a:off x="7503986" y="1879600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3"/>
          <p:cNvSpPr/>
          <p:nvPr/>
        </p:nvSpPr>
        <p:spPr>
          <a:xfrm>
            <a:off x="7669086" y="1879600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Guided intake chat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669086" y="2161541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Type, speak or tap, in Polish or English.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7503986" y="2642632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3"/>
          <p:cNvSpPr/>
          <p:nvPr/>
        </p:nvSpPr>
        <p:spPr>
          <a:xfrm>
            <a:off x="7669086" y="2642632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Cited doctor brief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669086" y="2924572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Every fact opens its source record.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4" name="Google Shape;64;p3"/>
          <p:cNvCxnSpPr/>
          <p:nvPr/>
        </p:nvCxnSpPr>
        <p:spPr>
          <a:xfrm>
            <a:off x="7503986" y="3405744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3"/>
          <p:cNvSpPr/>
          <p:nvPr/>
        </p:nvSpPr>
        <p:spPr>
          <a:xfrm>
            <a:off x="7669086" y="3405744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One medication table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669086" y="3687683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Clinic prescriptions plus patient-reported medicines.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7" name="Google Shape;67;p3"/>
          <p:cNvCxnSpPr/>
          <p:nvPr/>
        </p:nvCxnSpPr>
        <p:spPr>
          <a:xfrm>
            <a:off x="7503986" y="4168775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3"/>
          <p:cNvSpPr/>
          <p:nvPr/>
        </p:nvSpPr>
        <p:spPr>
          <a:xfrm>
            <a:off x="7669086" y="4168775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Red-flag safety net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669086" y="4450716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Rules stop the chat and show a 112 screen.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12800" y="5561353"/>
            <a:ext cx="10566300" cy="476400"/>
          </a:xfrm>
          <a:prstGeom prst="roundRect">
            <a:avLst>
              <a:gd fmla="val 16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t" bIns="66575" lIns="180875" spcFirstLastPara="1" rIns="0" wrap="square" tIns="91975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B1B33"/>
                </a:solidFill>
                <a:latin typeface="Inter"/>
                <a:ea typeface="Inter"/>
                <a:cs typeface="Inter"/>
                <a:sym typeface="Inter"/>
              </a:rPr>
              <a:t>No diagnoses, risk scores or suggested actions, anywhere.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12800" y="6238241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· 3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10930" y="4984477"/>
            <a:ext cx="10566300" cy="476400"/>
          </a:xfrm>
          <a:prstGeom prst="roundRect">
            <a:avLst>
              <a:gd fmla="val 16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t" bIns="66575" lIns="180875" spcFirstLastPara="1" rIns="0" wrap="square" tIns="919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1500"/>
              <a:buFont typeface="Inter"/>
              <a:buNone/>
            </a:pPr>
            <a:r>
              <a:rPr b="1" lang="en-US" sz="1500">
                <a:solidFill>
                  <a:srgbClr val="0B1B33"/>
                </a:solidFill>
                <a:latin typeface="Inter"/>
                <a:ea typeface="Inter"/>
                <a:cs typeface="Inter"/>
                <a:sym typeface="Inter"/>
              </a:rPr>
              <a:t>For people 30-55 y.o. going to a doctor regularly. 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" name="Google Shape;7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50" y="939225"/>
            <a:ext cx="2052275" cy="394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9537" y="1493363"/>
            <a:ext cx="4939928" cy="32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812800" y="812800"/>
            <a:ext cx="108833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Code owns safety and data; the LLM does three narrow tasks</a:t>
            </a:r>
            <a:endParaRPr sz="3000"/>
          </a:p>
        </p:txBody>
      </p:sp>
      <p:sp>
        <p:nvSpPr>
          <p:cNvPr id="81" name="Google Shape;81;p4"/>
          <p:cNvSpPr/>
          <p:nvPr/>
        </p:nvSpPr>
        <p:spPr>
          <a:xfrm>
            <a:off x="815975" y="1806575"/>
            <a:ext cx="2406600" cy="1736100"/>
          </a:xfrm>
          <a:prstGeom prst="roundRect">
            <a:avLst>
              <a:gd fmla="val 5669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995680" y="2313941"/>
            <a:ext cx="210865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Patient app + Doctor dashboard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95680" y="2821941"/>
            <a:ext cx="2108657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Next.js, PL/EN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rrow to FastAPI services"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7400" y="2598420"/>
            <a:ext cx="4572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3892550" y="1809750"/>
            <a:ext cx="2527300" cy="1729740"/>
          </a:xfrm>
          <a:prstGeom prst="roundRect">
            <a:avLst>
              <a:gd fmla="val 5507" name="adj"/>
            </a:avLst>
          </a:prstGeom>
          <a:solidFill>
            <a:srgbClr val="132A4C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074160" y="2321561"/>
            <a:ext cx="2229003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FastAPI services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074160" y="2600961"/>
            <a:ext cx="2229003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Safety · Context · Intake · Brief · Profile · Audit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rrow to LLM gateway" id="88" name="Google Shape;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7800" y="2131061"/>
            <a:ext cx="4572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7089775" y="1806575"/>
            <a:ext cx="4286250" cy="801370"/>
          </a:xfrm>
          <a:prstGeom prst="roundRect">
            <a:avLst>
              <a:gd fmla="val 1228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269480" y="1960880"/>
            <a:ext cx="40446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LLM gateway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269480" y="2240280"/>
            <a:ext cx="404464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Claude or offline deterministic engine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rrow to data stores"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7800" y="3065780"/>
            <a:ext cx="4572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7089775" y="2741295"/>
            <a:ext cx="4286250" cy="801370"/>
          </a:xfrm>
          <a:prstGeom prst="roundRect">
            <a:avLst>
              <a:gd fmla="val 1228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7269480" y="2895600"/>
            <a:ext cx="40446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FHIR R4 store + PostgreSQL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269480" y="3175000"/>
            <a:ext cx="404464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Clinical records · users and audit log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12800" y="3698241"/>
            <a:ext cx="10883392" cy="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The model sees only a pseudonymised context pack. Code validates every citation and discards any fact without a real source.</a:t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15975" y="4351655"/>
            <a:ext cx="878523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Next.js 16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764348" y="4351655"/>
            <a:ext cx="962104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TypeScript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796302" y="4351655"/>
            <a:ext cx="1000204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Tailwind v4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866356" y="4351655"/>
            <a:ext cx="727154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FastAPI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663361" y="4351655"/>
            <a:ext cx="1008698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Python 3.13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741908" y="4351655"/>
            <a:ext cx="763270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FHIR R4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575028" y="4351655"/>
            <a:ext cx="1036003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680881" y="4351655"/>
            <a:ext cx="576977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Redis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327708" y="4351655"/>
            <a:ext cx="696516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Docker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12800" y="4785361"/>
            <a:ext cx="10883392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All patients are synthetic. AI use disclosed.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· 4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Built against the five criteria</a:t>
            </a:r>
            <a:endParaRPr sz="3000"/>
          </a:p>
        </p:txBody>
      </p:sp>
      <p:cxnSp>
        <p:nvCxnSpPr>
          <p:cNvPr id="114" name="Google Shape;114;p6"/>
          <p:cNvCxnSpPr/>
          <p:nvPr/>
        </p:nvCxnSpPr>
        <p:spPr>
          <a:xfrm>
            <a:off x="812800" y="1387475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6"/>
          <p:cNvSpPr/>
          <p:nvPr/>
        </p:nvSpPr>
        <p:spPr>
          <a:xfrm>
            <a:off x="812800" y="1540511"/>
            <a:ext cx="8763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30%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841500" y="1550671"/>
            <a:ext cx="26162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Idea &amp; Innovation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841500" y="1842771"/>
            <a:ext cx="2286000" cy="508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584700" y="1490982"/>
            <a:ext cx="69983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Guided intake + clinic history + patient profile, with every AI statement grounded in a source.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9" name="Google Shape;119;p6"/>
          <p:cNvCxnSpPr/>
          <p:nvPr/>
        </p:nvCxnSpPr>
        <p:spPr>
          <a:xfrm>
            <a:off x="812800" y="2058036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6"/>
          <p:cNvSpPr/>
          <p:nvPr/>
        </p:nvSpPr>
        <p:spPr>
          <a:xfrm>
            <a:off x="812800" y="2211071"/>
            <a:ext cx="8763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841500" y="2221232"/>
            <a:ext cx="26162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Relation to Category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841500" y="2513332"/>
            <a:ext cx="1524000" cy="508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4584700" y="2161539"/>
            <a:ext cx="69983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Appointment preparation and doctor–patient communication; lifestyle and activity are part of the clinical picture.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24" name="Google Shape;124;p6"/>
          <p:cNvCxnSpPr/>
          <p:nvPr/>
        </p:nvCxnSpPr>
        <p:spPr>
          <a:xfrm>
            <a:off x="812800" y="2728596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6"/>
          <p:cNvSpPr/>
          <p:nvPr/>
        </p:nvSpPr>
        <p:spPr>
          <a:xfrm>
            <a:off x="812800" y="2881632"/>
            <a:ext cx="8763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841500" y="2891789"/>
            <a:ext cx="26162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Practical Applicability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841500" y="3183889"/>
            <a:ext cx="1524000" cy="508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584700" y="2832100"/>
            <a:ext cx="69983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Clinic-operated, </a:t>
            </a:r>
            <a:r>
              <a:rPr lang="en-US" sz="1300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the common healthcare data format, so it can plug into existing clinic systems instead of needing a custom integration.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29" name="Google Shape;129;p6"/>
          <p:cNvCxnSpPr/>
          <p:nvPr/>
        </p:nvCxnSpPr>
        <p:spPr>
          <a:xfrm>
            <a:off x="812800" y="3399157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6"/>
          <p:cNvSpPr/>
          <p:nvPr/>
        </p:nvSpPr>
        <p:spPr>
          <a:xfrm>
            <a:off x="812800" y="3552189"/>
            <a:ext cx="8763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841500" y="3562350"/>
            <a:ext cx="26162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841500" y="3854450"/>
            <a:ext cx="1524000" cy="508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584700" y="3502661"/>
            <a:ext cx="69983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Two purpose-built interfaces, a calm mobile patient app and a dense doctor dashboard.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4" name="Google Shape;134;p6"/>
          <p:cNvCxnSpPr/>
          <p:nvPr/>
        </p:nvCxnSpPr>
        <p:spPr>
          <a:xfrm>
            <a:off x="812800" y="4069714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6"/>
          <p:cNvCxnSpPr/>
          <p:nvPr/>
        </p:nvCxnSpPr>
        <p:spPr>
          <a:xfrm>
            <a:off x="812800" y="4639944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6"/>
          <p:cNvSpPr/>
          <p:nvPr/>
        </p:nvSpPr>
        <p:spPr>
          <a:xfrm>
            <a:off x="812800" y="4173221"/>
            <a:ext cx="8763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10%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841500" y="4183382"/>
            <a:ext cx="26162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Completeness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841500" y="4475482"/>
            <a:ext cx="762000" cy="508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584700" y="4239261"/>
            <a:ext cx="6998335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End-to-end flow runs today on synthetic data with one command; test suite included.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· 6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ct val="100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Future </a:t>
            </a:r>
            <a:r>
              <a:rPr b="1" lang="en-US"/>
              <a:t>plans</a:t>
            </a: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3000"/>
          </a:p>
        </p:txBody>
      </p:sp>
      <p:sp>
        <p:nvSpPr>
          <p:cNvPr id="147" name="Google Shape;147;p5"/>
          <p:cNvSpPr/>
          <p:nvPr/>
        </p:nvSpPr>
        <p:spPr>
          <a:xfrm>
            <a:off x="815975" y="1632447"/>
            <a:ext cx="6058800" cy="3815400"/>
          </a:xfrm>
          <a:prstGeom prst="roundRect">
            <a:avLst>
              <a:gd fmla="val 12419" name="adj"/>
            </a:avLst>
          </a:prstGeom>
          <a:solidFill>
            <a:srgbClr val="132A4C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Char char="●"/>
            </a:pPr>
            <a:r>
              <a:rPr lang="en-US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To expand the target audience</a:t>
            </a:r>
            <a:br>
              <a:rPr lang="en-US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Char char="●"/>
            </a:pPr>
            <a:r>
              <a:rPr lang="en-US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e-prescription import </a:t>
            </a:r>
            <a:br>
              <a:rPr lang="en-US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Char char="●"/>
            </a:pPr>
            <a:r>
              <a:rPr lang="en-US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Prediction based on DNA analysis</a:t>
            </a:r>
            <a:br>
              <a:rPr lang="en-US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Char char="●"/>
            </a:pPr>
            <a:r>
              <a:rPr lang="en-US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Accessibility features (i.e. for colorblind or blind people)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Char char="●"/>
            </a:pPr>
            <a:r>
              <a:rPr lang="en-US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Multi-language support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· 5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talContext · HackYeah 2026 pitch">
  <a:themeElements>
    <a:clrScheme name="VitalContext · HackYeah 2026 pitch">
      <a:dk1>
        <a:srgbClr val="0B1B33"/>
      </a:dk1>
      <a:lt1>
        <a:srgbClr val="F2F6FB"/>
      </a:lt1>
      <a:dk2>
        <a:srgbClr val="223147"/>
      </a:dk2>
      <a:lt2>
        <a:srgbClr val="B8BFC9"/>
      </a:lt2>
      <a:accent1>
        <a:srgbClr val="2DD4BF"/>
      </a:accent1>
      <a:accent2>
        <a:srgbClr val="132A4C"/>
      </a:accent2>
      <a:accent3>
        <a:srgbClr val="A9B8CF"/>
      </a:accent3>
      <a:accent4>
        <a:srgbClr val="9AA0A6"/>
      </a:accent4>
      <a:accent5>
        <a:srgbClr val="969EAB"/>
      </a:accent5>
      <a:accent6>
        <a:srgbClr val="737E8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talContext · HackYeah 2026 pitch">
  <a:themeElements>
    <a:clrScheme name="VitalContext · HackYeah 2026 pitch">
      <a:dk1>
        <a:srgbClr val="0B1B33"/>
      </a:dk1>
      <a:lt1>
        <a:srgbClr val="F2F6FB"/>
      </a:lt1>
      <a:dk2>
        <a:srgbClr val="223147"/>
      </a:dk2>
      <a:lt2>
        <a:srgbClr val="B8BFC9"/>
      </a:lt2>
      <a:accent1>
        <a:srgbClr val="2DD4BF"/>
      </a:accent1>
      <a:accent2>
        <a:srgbClr val="132A4C"/>
      </a:accent2>
      <a:accent3>
        <a:srgbClr val="A9B8CF"/>
      </a:accent3>
      <a:accent4>
        <a:srgbClr val="9AA0A6"/>
      </a:accent4>
      <a:accent5>
        <a:srgbClr val="969EAB"/>
      </a:accent5>
      <a:accent6>
        <a:srgbClr val="737E8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2026-10-04T07:02:23Z</dcterms:created>
</cp:coreProperties>
</file>